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6256000" cy="9144000"/>
  <p:notesSz cx="9144000" cy="16256000"/>
  <p:embeddedFontLst>
    <p:embeddedFont>
      <p:font typeface="Liter" panose="02010600030101010101" charset="0"/>
      <p:regular r:id="rId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8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notesSlide" Target="../notesSlides/notesSlide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2D3142"/>
          </a:solidFill>
        </p:spPr>
      </p:sp>
      <p:sp>
        <p:nvSpPr>
          <p:cNvPr id="3" name="Shape 1"/>
          <p:cNvSpPr/>
          <p:nvPr/>
        </p:nvSpPr>
        <p:spPr>
          <a:xfrm>
            <a:off x="13716000" y="1016000"/>
            <a:ext cx="2540000" cy="2540000"/>
          </a:xfrm>
          <a:prstGeom prst="ellipse">
            <a:avLst/>
          </a:prstGeom>
          <a:solidFill>
            <a:srgbClr val="4CC9F0">
              <a:alpha val="8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2446000" y="5334000"/>
            <a:ext cx="3810000" cy="3810000"/>
          </a:xfrm>
          <a:prstGeom prst="ellipse">
            <a:avLst/>
          </a:prstGeom>
          <a:solidFill>
            <a:srgbClr val="4CC9F0">
              <a:alpha val="6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5588000" y="6604000"/>
            <a:ext cx="1016000" cy="1016000"/>
          </a:xfrm>
          <a:prstGeom prst="rect">
            <a:avLst/>
          </a:prstGeom>
          <a:solidFill>
            <a:srgbClr val="4CC9F0"/>
          </a:solidFill>
        </p:spPr>
      </p:sp>
      <p:pic>
        <p:nvPicPr>
          <p:cNvPr id="6" name="Image 0" descr="https://kimi-img.moonshot.cn/pub/slides/okc/pgh6taw5ys4ea/mnt/agents/output/android-midterm/images/4_Modern_Mobile_App_UI_Design_Kit_Clean.png"/>
          <p:cNvPicPr>
            <a:picLocks noChangeAspect="1"/>
          </p:cNvPicPr>
          <p:nvPr/>
        </p:nvPicPr>
        <p:blipFill>
          <a:blip r:embed="rId3"/>
          <a:srcRect l="5000" r="5000"/>
          <a:stretch>
            <a:fillRect/>
          </a:stretch>
        </p:blipFill>
        <p:spPr>
          <a:xfrm>
            <a:off x="6858000" y="2032000"/>
            <a:ext cx="8128000" cy="5080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762000" y="2794000"/>
            <a:ext cx="4826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44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树洞</a:t>
            </a:r>
            <a:r>
              <a:rPr lang="en-US" sz="44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软件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62000" y="3683000"/>
            <a:ext cx="4826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44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中期</a:t>
            </a:r>
            <a:r>
              <a:rPr lang="en-US" sz="44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汇报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762000" y="4699000"/>
            <a:ext cx="1270000" cy="50800"/>
          </a:xfrm>
          <a:prstGeom prst="rect">
            <a:avLst/>
          </a:prstGeom>
          <a:solidFill>
            <a:srgbClr val="4CC9F0"/>
          </a:solidFill>
        </p:spPr>
      </p:sp>
      <p:sp>
        <p:nvSpPr>
          <p:cNvPr id="10" name="Text 7"/>
          <p:cNvSpPr/>
          <p:nvPr/>
        </p:nvSpPr>
        <p:spPr>
          <a:xfrm>
            <a:off x="762000" y="5016500"/>
            <a:ext cx="4826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项</a:t>
            </a: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  <a:sym typeface="+mn-ea"/>
              </a:rPr>
              <a:t>目进展</a:t>
            </a: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· 工作总结 · 程序演示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62000" y="7874000"/>
            <a:ext cx="4826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734060" y="6896735"/>
            <a:ext cx="436054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第</a:t>
            </a:r>
            <a:r>
              <a:rPr lang="en-US" altLang="zh-CN" sz="22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13</a:t>
            </a:r>
            <a:r>
              <a:rPr lang="zh-CN" altLang="en-US" sz="22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组</a:t>
            </a: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组员：潘嘉伟 平恺飞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508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汇报目录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333500"/>
            <a:ext cx="1016000" cy="50800"/>
          </a:xfrm>
          <a:prstGeom prst="rect">
            <a:avLst/>
          </a:prstGeom>
          <a:solidFill>
            <a:srgbClr val="4CC9F0"/>
          </a:solidFill>
        </p:spPr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762000" y="2032000"/>
            <a:ext cx="4572000" cy="584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203200" dist="508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1143000" y="2413000"/>
            <a:ext cx="1016000" cy="762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4800" b="1" dirty="0">
                <a:solidFill>
                  <a:srgbClr val="4CC9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1143000" y="3302000"/>
            <a:ext cx="381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当前进展</a:t>
            </a:r>
            <a:endParaRPr lang="en-US" sz="2800" dirty="0"/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1143000" y="3937000"/>
            <a:ext cx="508000" cy="38100"/>
          </a:xfrm>
          <a:prstGeom prst="rect">
            <a:avLst/>
          </a:prstGeom>
          <a:solidFill>
            <a:srgbClr val="4CC9F0"/>
          </a:solidFill>
        </p:spPr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1143000" y="4191000"/>
            <a:ext cx="3810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A2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规划内容与实际完成情况对比，展示各功能模块开发进度与整体项目完成度</a:t>
            </a:r>
            <a:endParaRPr lang="en-US" sz="2000" dirty="0"/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1143000" y="685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63500" y="45938"/>
                  <a:pt x="49312" y="31750"/>
                  <a:pt x="31750" y="31750"/>
                </a:cubicBezTo>
                <a:cubicBezTo>
                  <a:pt x="14188" y="31750"/>
                  <a:pt x="0" y="45938"/>
                  <a:pt x="0" y="63500"/>
                </a:cubicBezTo>
                <a:lnTo>
                  <a:pt x="0" y="396875"/>
                </a:lnTo>
                <a:cubicBezTo>
                  <a:pt x="0" y="440730"/>
                  <a:pt x="35520" y="476250"/>
                  <a:pt x="79375" y="476250"/>
                </a:cubicBezTo>
                <a:lnTo>
                  <a:pt x="476250" y="476250"/>
                </a:lnTo>
                <a:cubicBezTo>
                  <a:pt x="493812" y="476250"/>
                  <a:pt x="508000" y="462062"/>
                  <a:pt x="508000" y="444500"/>
                </a:cubicBezTo>
                <a:cubicBezTo>
                  <a:pt x="508000" y="426938"/>
                  <a:pt x="493812" y="412750"/>
                  <a:pt x="476250" y="412750"/>
                </a:cubicBezTo>
                <a:lnTo>
                  <a:pt x="79375" y="412750"/>
                </a:lnTo>
                <a:cubicBezTo>
                  <a:pt x="70644" y="412750"/>
                  <a:pt x="63500" y="405606"/>
                  <a:pt x="63500" y="396875"/>
                </a:cubicBezTo>
                <a:lnTo>
                  <a:pt x="63500" y="63500"/>
                </a:lnTo>
                <a:close/>
                <a:moveTo>
                  <a:pt x="466923" y="149423"/>
                </a:moveTo>
                <a:cubicBezTo>
                  <a:pt x="479326" y="137021"/>
                  <a:pt x="479326" y="116880"/>
                  <a:pt x="466923" y="104477"/>
                </a:cubicBezTo>
                <a:cubicBezTo>
                  <a:pt x="454521" y="92075"/>
                  <a:pt x="434380" y="92075"/>
                  <a:pt x="421977" y="104477"/>
                </a:cubicBezTo>
                <a:lnTo>
                  <a:pt x="317500" y="209054"/>
                </a:lnTo>
                <a:lnTo>
                  <a:pt x="260548" y="152202"/>
                </a:lnTo>
                <a:cubicBezTo>
                  <a:pt x="248146" y="139799"/>
                  <a:pt x="228005" y="139799"/>
                  <a:pt x="215602" y="152202"/>
                </a:cubicBezTo>
                <a:lnTo>
                  <a:pt x="120352" y="247452"/>
                </a:lnTo>
                <a:cubicBezTo>
                  <a:pt x="107950" y="259854"/>
                  <a:pt x="107950" y="279995"/>
                  <a:pt x="120352" y="292398"/>
                </a:cubicBezTo>
                <a:cubicBezTo>
                  <a:pt x="132755" y="304800"/>
                  <a:pt x="152896" y="304800"/>
                  <a:pt x="165298" y="292398"/>
                </a:cubicBezTo>
                <a:lnTo>
                  <a:pt x="238125" y="219571"/>
                </a:lnTo>
                <a:lnTo>
                  <a:pt x="295077" y="276523"/>
                </a:lnTo>
                <a:cubicBezTo>
                  <a:pt x="307479" y="288925"/>
                  <a:pt x="327620" y="288925"/>
                  <a:pt x="340023" y="276523"/>
                </a:cubicBezTo>
                <a:lnTo>
                  <a:pt x="467023" y="149523"/>
                </a:lnTo>
                <a:close/>
              </a:path>
            </a:pathLst>
          </a:custGeom>
          <a:solidFill>
            <a:srgbClr val="4CC9F0"/>
          </a:solidFill>
        </p:spPr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5842000" y="2032000"/>
            <a:ext cx="4572000" cy="584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203200" dist="508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6223000" y="2413000"/>
            <a:ext cx="1016000" cy="762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4800" b="1" dirty="0">
                <a:solidFill>
                  <a:srgbClr val="4CC9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48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6223000" y="3302000"/>
            <a:ext cx="381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工作总结</a:t>
            </a:r>
            <a:endParaRPr lang="en-US" sz="2800" dirty="0"/>
          </a:p>
        </p:txBody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6223000" y="3937000"/>
            <a:ext cx="508000" cy="38100"/>
          </a:xfrm>
          <a:prstGeom prst="rect">
            <a:avLst/>
          </a:prstGeom>
          <a:solidFill>
            <a:srgbClr val="4CC9F0"/>
          </a:solidFill>
        </p:spPr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6223000" y="4191000"/>
            <a:ext cx="3810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A2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团队成员工作分配与成果汇总，展示各成员负责模块及完成情况</a:t>
            </a:r>
            <a:endParaRPr lang="en-US" sz="2000" dirty="0"/>
          </a:p>
        </p:txBody>
      </p:sp>
      <p:sp>
        <p:nvSpPr>
          <p:cNvPr id="15" name="Shape 13"/>
          <p:cNvSpPr/>
          <p:nvPr>
            <p:custDataLst>
              <p:tags r:id="rId12"/>
            </p:custDataLst>
          </p:nvPr>
        </p:nvSpPr>
        <p:spPr>
          <a:xfrm>
            <a:off x="6159500" y="68580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317500" y="15875"/>
                </a:moveTo>
                <a:cubicBezTo>
                  <a:pt x="374451" y="15875"/>
                  <a:pt x="420688" y="62112"/>
                  <a:pt x="420688" y="119063"/>
                </a:cubicBezTo>
                <a:cubicBezTo>
                  <a:pt x="420688" y="176013"/>
                  <a:pt x="374451" y="222250"/>
                  <a:pt x="317500" y="222250"/>
                </a:cubicBezTo>
                <a:cubicBezTo>
                  <a:pt x="260549" y="222250"/>
                  <a:pt x="214313" y="176013"/>
                  <a:pt x="214313" y="119063"/>
                </a:cubicBezTo>
                <a:cubicBezTo>
                  <a:pt x="214313" y="62112"/>
                  <a:pt x="260549" y="15875"/>
                  <a:pt x="317500" y="15875"/>
                </a:cubicBezTo>
                <a:close/>
                <a:moveTo>
                  <a:pt x="95250" y="87313"/>
                </a:moveTo>
                <a:cubicBezTo>
                  <a:pt x="134677" y="87313"/>
                  <a:pt x="166688" y="119323"/>
                  <a:pt x="166688" y="158750"/>
                </a:cubicBezTo>
                <a:cubicBezTo>
                  <a:pt x="166688" y="198177"/>
                  <a:pt x="134677" y="230188"/>
                  <a:pt x="95250" y="230188"/>
                </a:cubicBezTo>
                <a:cubicBezTo>
                  <a:pt x="55823" y="230188"/>
                  <a:pt x="23813" y="198177"/>
                  <a:pt x="23812" y="158750"/>
                </a:cubicBezTo>
                <a:cubicBezTo>
                  <a:pt x="23812" y="119323"/>
                  <a:pt x="55823" y="87313"/>
                  <a:pt x="95250" y="87313"/>
                </a:cubicBezTo>
                <a:close/>
                <a:moveTo>
                  <a:pt x="0" y="412750"/>
                </a:moveTo>
                <a:cubicBezTo>
                  <a:pt x="0" y="342602"/>
                  <a:pt x="56852" y="285750"/>
                  <a:pt x="127000" y="285750"/>
                </a:cubicBezTo>
                <a:cubicBezTo>
                  <a:pt x="139700" y="285750"/>
                  <a:pt x="152003" y="287635"/>
                  <a:pt x="163612" y="291108"/>
                </a:cubicBezTo>
                <a:cubicBezTo>
                  <a:pt x="130969" y="327620"/>
                  <a:pt x="111125" y="375841"/>
                  <a:pt x="111125" y="428625"/>
                </a:cubicBezTo>
                <a:lnTo>
                  <a:pt x="111125" y="444500"/>
                </a:lnTo>
                <a:cubicBezTo>
                  <a:pt x="111125" y="455811"/>
                  <a:pt x="113506" y="466527"/>
                  <a:pt x="117773" y="476250"/>
                </a:cubicBezTo>
                <a:lnTo>
                  <a:pt x="31750" y="476250"/>
                </a:lnTo>
                <a:cubicBezTo>
                  <a:pt x="14188" y="476250"/>
                  <a:pt x="0" y="462062"/>
                  <a:pt x="0" y="444500"/>
                </a:cubicBezTo>
                <a:lnTo>
                  <a:pt x="0" y="412750"/>
                </a:lnTo>
                <a:close/>
                <a:moveTo>
                  <a:pt x="517227" y="476250"/>
                </a:moveTo>
                <a:cubicBezTo>
                  <a:pt x="521494" y="466527"/>
                  <a:pt x="523875" y="455811"/>
                  <a:pt x="523875" y="444500"/>
                </a:cubicBezTo>
                <a:lnTo>
                  <a:pt x="523875" y="428625"/>
                </a:lnTo>
                <a:cubicBezTo>
                  <a:pt x="523875" y="375841"/>
                  <a:pt x="504031" y="327620"/>
                  <a:pt x="471388" y="291108"/>
                </a:cubicBezTo>
                <a:cubicBezTo>
                  <a:pt x="482997" y="287635"/>
                  <a:pt x="495300" y="285750"/>
                  <a:pt x="508000" y="285750"/>
                </a:cubicBezTo>
                <a:cubicBezTo>
                  <a:pt x="578148" y="285750"/>
                  <a:pt x="635000" y="342602"/>
                  <a:pt x="635000" y="412750"/>
                </a:cubicBezTo>
                <a:lnTo>
                  <a:pt x="635000" y="444500"/>
                </a:lnTo>
                <a:cubicBezTo>
                  <a:pt x="635000" y="462062"/>
                  <a:pt x="620812" y="476250"/>
                  <a:pt x="603250" y="476250"/>
                </a:cubicBezTo>
                <a:lnTo>
                  <a:pt x="517227" y="476250"/>
                </a:lnTo>
                <a:close/>
                <a:moveTo>
                  <a:pt x="468313" y="158750"/>
                </a:moveTo>
                <a:cubicBezTo>
                  <a:pt x="468313" y="119323"/>
                  <a:pt x="500323" y="87313"/>
                  <a:pt x="539750" y="87313"/>
                </a:cubicBezTo>
                <a:cubicBezTo>
                  <a:pt x="579177" y="87313"/>
                  <a:pt x="611188" y="119323"/>
                  <a:pt x="611188" y="158750"/>
                </a:cubicBezTo>
                <a:cubicBezTo>
                  <a:pt x="611188" y="198177"/>
                  <a:pt x="579177" y="230188"/>
                  <a:pt x="539750" y="230188"/>
                </a:cubicBezTo>
                <a:cubicBezTo>
                  <a:pt x="500323" y="230188"/>
                  <a:pt x="468313" y="198177"/>
                  <a:pt x="468313" y="158750"/>
                </a:cubicBezTo>
                <a:close/>
                <a:moveTo>
                  <a:pt x="158750" y="428625"/>
                </a:moveTo>
                <a:cubicBezTo>
                  <a:pt x="158750" y="340916"/>
                  <a:pt x="229791" y="269875"/>
                  <a:pt x="317500" y="269875"/>
                </a:cubicBezTo>
                <a:cubicBezTo>
                  <a:pt x="405209" y="269875"/>
                  <a:pt x="476250" y="340916"/>
                  <a:pt x="476250" y="428625"/>
                </a:cubicBezTo>
                <a:lnTo>
                  <a:pt x="476250" y="444500"/>
                </a:lnTo>
                <a:cubicBezTo>
                  <a:pt x="476250" y="462062"/>
                  <a:pt x="462062" y="476250"/>
                  <a:pt x="444500" y="476250"/>
                </a:cubicBezTo>
                <a:lnTo>
                  <a:pt x="190500" y="476250"/>
                </a:lnTo>
                <a:cubicBezTo>
                  <a:pt x="172938" y="476250"/>
                  <a:pt x="158750" y="462062"/>
                  <a:pt x="158750" y="444500"/>
                </a:cubicBezTo>
                <a:lnTo>
                  <a:pt x="158750" y="428625"/>
                </a:lnTo>
                <a:close/>
              </a:path>
            </a:pathLst>
          </a:custGeom>
          <a:solidFill>
            <a:srgbClr val="4CC9F0"/>
          </a:solidFill>
        </p:spPr>
      </p:sp>
      <p:sp>
        <p:nvSpPr>
          <p:cNvPr id="16" name="Shape 14"/>
          <p:cNvSpPr/>
          <p:nvPr>
            <p:custDataLst>
              <p:tags r:id="rId13"/>
            </p:custDataLst>
          </p:nvPr>
        </p:nvSpPr>
        <p:spPr>
          <a:xfrm>
            <a:off x="10922000" y="2032000"/>
            <a:ext cx="4572000" cy="584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203200" dist="508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11303000" y="2413000"/>
            <a:ext cx="1016000" cy="762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4800" b="1" dirty="0">
                <a:solidFill>
                  <a:srgbClr val="4CC9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48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11303000" y="3302000"/>
            <a:ext cx="381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程序演示</a:t>
            </a:r>
            <a:endParaRPr lang="en-US" sz="2800" dirty="0"/>
          </a:p>
        </p:txBody>
      </p:sp>
      <p:sp>
        <p:nvSpPr>
          <p:cNvPr id="19" name="Shape 17"/>
          <p:cNvSpPr/>
          <p:nvPr>
            <p:custDataLst>
              <p:tags r:id="rId16"/>
            </p:custDataLst>
          </p:nvPr>
        </p:nvSpPr>
        <p:spPr>
          <a:xfrm>
            <a:off x="11303000" y="3937000"/>
            <a:ext cx="508000" cy="38100"/>
          </a:xfrm>
          <a:prstGeom prst="rect">
            <a:avLst/>
          </a:prstGeom>
          <a:solidFill>
            <a:srgbClr val="4CC9F0"/>
          </a:solidFill>
        </p:spPr>
      </p:sp>
      <p:sp>
        <p:nvSpPr>
          <p:cNvPr id="20" name="Text 18"/>
          <p:cNvSpPr/>
          <p:nvPr>
            <p:custDataLst>
              <p:tags r:id="rId17"/>
            </p:custDataLst>
          </p:nvPr>
        </p:nvSpPr>
        <p:spPr>
          <a:xfrm>
            <a:off x="11303000" y="4191000"/>
            <a:ext cx="3810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A2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核心功能演示流程与界面展示，呈现应用实际运行效果</a:t>
            </a:r>
            <a:endParaRPr lang="en-US" sz="2000" dirty="0"/>
          </a:p>
        </p:txBody>
      </p:sp>
      <p:sp>
        <p:nvSpPr>
          <p:cNvPr id="21" name="Shape 19"/>
          <p:cNvSpPr/>
          <p:nvPr>
            <p:custDataLst>
              <p:tags r:id="rId18"/>
            </p:custDataLst>
          </p:nvPr>
        </p:nvSpPr>
        <p:spPr>
          <a:xfrm>
            <a:off x="11366500" y="68580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15875" y="63500"/>
                </a:moveTo>
                <a:cubicBezTo>
                  <a:pt x="15875" y="28476"/>
                  <a:pt x="44351" y="0"/>
                  <a:pt x="79375" y="0"/>
                </a:cubicBezTo>
                <a:lnTo>
                  <a:pt x="301625" y="0"/>
                </a:lnTo>
                <a:cubicBezTo>
                  <a:pt x="336649" y="0"/>
                  <a:pt x="365125" y="28476"/>
                  <a:pt x="365125" y="63500"/>
                </a:cubicBezTo>
                <a:lnTo>
                  <a:pt x="365125" y="444500"/>
                </a:lnTo>
                <a:cubicBezTo>
                  <a:pt x="365125" y="479524"/>
                  <a:pt x="336649" y="508000"/>
                  <a:pt x="301625" y="508000"/>
                </a:cubicBezTo>
                <a:lnTo>
                  <a:pt x="79375" y="508000"/>
                </a:lnTo>
                <a:cubicBezTo>
                  <a:pt x="44351" y="508000"/>
                  <a:pt x="15875" y="479524"/>
                  <a:pt x="15875" y="444500"/>
                </a:cubicBezTo>
                <a:lnTo>
                  <a:pt x="15875" y="63500"/>
                </a:lnTo>
                <a:close/>
                <a:moveTo>
                  <a:pt x="127000" y="436563"/>
                </a:moveTo>
                <a:cubicBezTo>
                  <a:pt x="127000" y="449759"/>
                  <a:pt x="137616" y="460375"/>
                  <a:pt x="150813" y="460375"/>
                </a:cubicBezTo>
                <a:lnTo>
                  <a:pt x="230188" y="460375"/>
                </a:lnTo>
                <a:cubicBezTo>
                  <a:pt x="243384" y="460375"/>
                  <a:pt x="254000" y="449759"/>
                  <a:pt x="254000" y="436563"/>
                </a:cubicBezTo>
                <a:cubicBezTo>
                  <a:pt x="254000" y="423366"/>
                  <a:pt x="243384" y="412750"/>
                  <a:pt x="230188" y="412750"/>
                </a:cubicBezTo>
                <a:lnTo>
                  <a:pt x="150813" y="412750"/>
                </a:lnTo>
                <a:cubicBezTo>
                  <a:pt x="137616" y="412750"/>
                  <a:pt x="127000" y="423366"/>
                  <a:pt x="127000" y="436563"/>
                </a:cubicBezTo>
                <a:close/>
                <a:moveTo>
                  <a:pt x="301625" y="63500"/>
                </a:moveTo>
                <a:lnTo>
                  <a:pt x="79375" y="63500"/>
                </a:lnTo>
                <a:lnTo>
                  <a:pt x="79375" y="365125"/>
                </a:lnTo>
                <a:lnTo>
                  <a:pt x="301625" y="365125"/>
                </a:lnTo>
                <a:lnTo>
                  <a:pt x="301625" y="63500"/>
                </a:lnTo>
                <a:close/>
              </a:path>
            </a:pathLst>
          </a:custGeom>
          <a:solidFill>
            <a:srgbClr val="4CC9F0"/>
          </a:solidFill>
        </p:spPr>
      </p:sp>
      <p:sp>
        <p:nvSpPr>
          <p:cNvPr id="22" name="Shape 20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EF2F7"/>
          </a:solidFill>
        </p:spPr>
      </p:sp>
      <p:sp>
        <p:nvSpPr>
          <p:cNvPr id="23" name="Shape 21"/>
          <p:cNvSpPr/>
          <p:nvPr/>
        </p:nvSpPr>
        <p:spPr>
          <a:xfrm>
            <a:off x="762000" y="8610600"/>
            <a:ext cx="1524000" cy="50800"/>
          </a:xfrm>
          <a:prstGeom prst="rect">
            <a:avLst/>
          </a:prstGeom>
          <a:solidFill>
            <a:srgbClr val="4CC9F0"/>
          </a:solidFill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635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当前进展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016000" cy="38100"/>
          </a:xfrm>
          <a:prstGeom prst="rect">
            <a:avLst/>
          </a:prstGeom>
          <a:solidFill>
            <a:srgbClr val="4CC9F0"/>
          </a:solidFill>
        </p:spPr>
      </p:sp>
      <p:sp>
        <p:nvSpPr>
          <p:cNvPr id="4" name="Shape 2"/>
          <p:cNvSpPr/>
          <p:nvPr/>
        </p:nvSpPr>
        <p:spPr>
          <a:xfrm>
            <a:off x="762000" y="1524000"/>
            <a:ext cx="4826000" cy="673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203200" dist="508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1905000"/>
            <a:ext cx="4064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b="1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整体项目完成度</a:t>
            </a:r>
            <a:endParaRPr lang="en-US" b="1" dirty="0"/>
          </a:p>
        </p:txBody>
      </p:sp>
      <p:sp>
        <p:nvSpPr>
          <p:cNvPr id="6" name="Text 4"/>
          <p:cNvSpPr/>
          <p:nvPr/>
        </p:nvSpPr>
        <p:spPr>
          <a:xfrm>
            <a:off x="1143000" y="2482850"/>
            <a:ext cx="4064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4CC9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65%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1397000" y="3556000"/>
            <a:ext cx="3556000" cy="152400"/>
          </a:xfrm>
          <a:prstGeom prst="roundRect">
            <a:avLst>
              <a:gd name="adj" fmla="val 50000"/>
            </a:avLst>
          </a:prstGeom>
          <a:solidFill>
            <a:srgbClr val="EEF2F7"/>
          </a:solidFill>
        </p:spPr>
      </p:sp>
      <p:sp>
        <p:nvSpPr>
          <p:cNvPr id="8" name="Shape 6"/>
          <p:cNvSpPr/>
          <p:nvPr/>
        </p:nvSpPr>
        <p:spPr>
          <a:xfrm>
            <a:off x="1397000" y="3556000"/>
            <a:ext cx="2311400" cy="152400"/>
          </a:xfrm>
          <a:prstGeom prst="roundRect">
            <a:avLst>
              <a:gd name="adj" fmla="val 50000"/>
            </a:avLst>
          </a:prstGeom>
          <a:solidFill>
            <a:srgbClr val="4CC9F0"/>
          </a:solidFill>
        </p:spPr>
      </p:sp>
      <p:sp>
        <p:nvSpPr>
          <p:cNvPr id="9" name="Text 7"/>
          <p:cNvSpPr/>
          <p:nvPr/>
        </p:nvSpPr>
        <p:spPr>
          <a:xfrm>
            <a:off x="1143000" y="4064000"/>
            <a:ext cx="4064000" cy="177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70000"/>
              </a:lnSpc>
            </a:pPr>
            <a:r>
              <a:rPr lang="en-US" sz="1800" b="1" dirty="0">
                <a:solidFill>
                  <a:srgbClr val="4CC9F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r>
              <a:rPr lang="en-US" sz="1800" dirty="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个功能模块已完成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70000"/>
              </a:lnSpc>
            </a:pPr>
            <a:r>
              <a:rPr lang="en-US" sz="1800" b="1" dirty="0">
                <a:solidFill>
                  <a:srgbClr val="4CC9F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sz="1800" dirty="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个模块开发中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70000"/>
              </a:lnSpc>
            </a:pPr>
            <a:r>
              <a:rPr lang="en-US" sz="1800" b="1" dirty="0">
                <a:solidFill>
                  <a:srgbClr val="4CC9F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sz="1800" dirty="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个模块待</a:t>
            </a:r>
            <a:r>
              <a:rPr lang="zh-CN" altLang="en-US" sz="1800" dirty="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完善</a:t>
            </a:r>
          </a:p>
        </p:txBody>
      </p:sp>
      <p:sp>
        <p:nvSpPr>
          <p:cNvPr id="10" name="Text 8"/>
          <p:cNvSpPr/>
          <p:nvPr/>
        </p:nvSpPr>
        <p:spPr>
          <a:xfrm>
            <a:off x="1143000" y="5675630"/>
            <a:ext cx="4064000" cy="4679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2000" b="1" dirty="0">
                <a:solidFill>
                  <a:srgbClr val="2D31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软件架构</a:t>
            </a:r>
          </a:p>
        </p:txBody>
      </p:sp>
      <p:sp>
        <p:nvSpPr>
          <p:cNvPr id="11" name="Text 9"/>
          <p:cNvSpPr/>
          <p:nvPr/>
        </p:nvSpPr>
        <p:spPr>
          <a:xfrm>
            <a:off x="1143000" y="6176010"/>
            <a:ext cx="4064000" cy="1871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</a:t>
            </a:r>
            <a:r>
              <a:rPr lang="zh-CN" altLang="en-US" sz="1600" b="1" dirty="0">
                <a:solidFill>
                  <a:srgbClr val="1A1A2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前端</a:t>
            </a:r>
            <a:r>
              <a:rPr lang="zh-CN" altLang="en-US" sz="1600" dirty="0">
                <a:solidFill>
                  <a:srgbClr val="1A1A2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</a:t>
            </a:r>
            <a:r>
              <a:rPr lang="en-US" altLang="zh-CN" sz="1600" dirty="0">
                <a:solidFill>
                  <a:srgbClr val="1A1A2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Android + Kotlin</a:t>
            </a:r>
            <a:r>
              <a:rPr lang="zh-CN" altLang="en-US" sz="1600" dirty="0">
                <a:solidFill>
                  <a:srgbClr val="1A1A2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，</a:t>
            </a:r>
            <a:r>
              <a:rPr lang="en-US" altLang="zh-CN" sz="1600" dirty="0">
                <a:solidFill>
                  <a:srgbClr val="1A1A2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Jetpack Navigation</a:t>
            </a:r>
            <a:r>
              <a:rPr lang="zh-CN" altLang="en-US" sz="1600" dirty="0">
                <a:solidFill>
                  <a:srgbClr val="1A1A2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，</a:t>
            </a:r>
            <a:r>
              <a:rPr lang="en-US" altLang="zh-CN" sz="1600" dirty="0">
                <a:solidFill>
                  <a:srgbClr val="1A1A2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Retrofit + OkHttp</a:t>
            </a:r>
            <a:r>
              <a:rPr lang="zh-CN" altLang="en-US" sz="1600" dirty="0">
                <a:solidFill>
                  <a:srgbClr val="1A1A2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，</a:t>
            </a:r>
            <a:r>
              <a:rPr lang="en-US" altLang="zh-CN" sz="1600" dirty="0">
                <a:solidFill>
                  <a:srgbClr val="1A1A2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WebSocket</a:t>
            </a:r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</a:t>
            </a:r>
            <a:r>
              <a:rPr lang="en-US" altLang="zh-CN" sz="1600" b="1" dirty="0" err="1">
                <a:solidFill>
                  <a:srgbClr val="1A1A2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后端</a:t>
            </a:r>
            <a:r>
              <a:rPr lang="en-US" altLang="zh-CN" sz="1600" dirty="0">
                <a:solidFill>
                  <a:srgbClr val="1A1A2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</a:t>
            </a:r>
            <a:r>
              <a:rPr lang="en-US" altLang="zh-CN" sz="1600" dirty="0"/>
              <a:t> Node.js </a:t>
            </a:r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</a:t>
            </a:r>
            <a:r>
              <a:rPr lang="en-US" altLang="zh-CN" sz="1600" b="1" dirty="0">
                <a:solidFill>
                  <a:srgbClr val="1A1A2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</a:t>
            </a:r>
            <a:r>
              <a:rPr lang="en-US" altLang="zh-CN" sz="1600" b="1" dirty="0" err="1">
                <a:solidFill>
                  <a:srgbClr val="1A1A2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网络</a:t>
            </a:r>
            <a:r>
              <a:rPr lang="en-US" altLang="zh-CN" sz="1600" dirty="0" err="1">
                <a:solidFill>
                  <a:srgbClr val="1A1A2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：Token</a:t>
            </a:r>
            <a:r>
              <a:rPr lang="en-US" altLang="zh-CN" sz="1600" dirty="0">
                <a:solidFill>
                  <a:srgbClr val="1A1A2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</a:t>
            </a:r>
            <a:r>
              <a:rPr lang="en-US" altLang="zh-CN" sz="1600" dirty="0" err="1">
                <a:solidFill>
                  <a:srgbClr val="1A1A2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鉴权、实时消息推送</a:t>
            </a:r>
            <a:endParaRPr lang="en-US" altLang="zh-CN" sz="1600" dirty="0">
              <a:solidFill>
                <a:srgbClr val="1A1A2E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EF2F7"/>
          </a:solidFill>
        </p:spPr>
      </p:sp>
      <p:sp>
        <p:nvSpPr>
          <p:cNvPr id="33" name="Shape 31"/>
          <p:cNvSpPr/>
          <p:nvPr/>
        </p:nvSpPr>
        <p:spPr>
          <a:xfrm>
            <a:off x="762000" y="8610600"/>
            <a:ext cx="1524000" cy="50800"/>
          </a:xfrm>
          <a:prstGeom prst="rect">
            <a:avLst/>
          </a:prstGeom>
          <a:solidFill>
            <a:srgbClr val="4CC9F0"/>
          </a:solidFill>
        </p:spPr>
      </p:sp>
      <p:sp>
        <p:nvSpPr>
          <p:cNvPr id="34" name="Text 32"/>
          <p:cNvSpPr/>
          <p:nvPr/>
        </p:nvSpPr>
        <p:spPr>
          <a:xfrm>
            <a:off x="762000" y="8737600"/>
            <a:ext cx="254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 / 03 当前进展</a:t>
            </a:r>
            <a:endParaRPr lang="en-US" sz="1600" dirty="0"/>
          </a:p>
        </p:txBody>
      </p:sp>
      <p:sp>
        <p:nvSpPr>
          <p:cNvPr id="37" name="Shape 2"/>
          <p:cNvSpPr/>
          <p:nvPr/>
        </p:nvSpPr>
        <p:spPr>
          <a:xfrm>
            <a:off x="6381115" y="1567180"/>
            <a:ext cx="9147810" cy="673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203200" dist="508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38" name="文本框 37"/>
          <p:cNvSpPr txBox="1"/>
          <p:nvPr/>
        </p:nvSpPr>
        <p:spPr>
          <a:xfrm>
            <a:off x="9723755" y="2067560"/>
            <a:ext cx="251142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200" b="1" dirty="0">
                <a:solidFill>
                  <a:srgbClr val="2D31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  <a:sym typeface="+mn-ea"/>
              </a:rPr>
              <a:t>主要完成功能模块</a:t>
            </a: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210" y="3302000"/>
            <a:ext cx="8896985" cy="29819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635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工作总结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016000" cy="38100"/>
          </a:xfrm>
          <a:prstGeom prst="rect">
            <a:avLst/>
          </a:prstGeom>
          <a:solidFill>
            <a:srgbClr val="4CC9F0"/>
          </a:solidFill>
        </p:spPr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762000" y="1524000"/>
            <a:ext cx="7175500" cy="663638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203200" dist="508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1143000" y="1905000"/>
            <a:ext cx="762000" cy="762000"/>
          </a:xfrm>
          <a:prstGeom prst="ellipse">
            <a:avLst/>
          </a:prstGeom>
          <a:solidFill>
            <a:srgbClr val="EEF2F7"/>
          </a:solidFill>
        </p:spPr>
      </p:sp>
      <p:sp>
        <p:nvSpPr>
          <p:cNvPr id="6" name="Shape 4"/>
          <p:cNvSpPr/>
          <p:nvPr>
            <p:custDataLst>
              <p:tags r:id="rId3"/>
            </p:custDataLst>
          </p:nvPr>
        </p:nvSpPr>
        <p:spPr>
          <a:xfrm>
            <a:off x="1357313" y="20955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66688" y="184547"/>
                </a:moveTo>
                <a:cubicBezTo>
                  <a:pt x="215972" y="184547"/>
                  <a:pt x="255984" y="144534"/>
                  <a:pt x="255984" y="95250"/>
                </a:cubicBezTo>
                <a:cubicBezTo>
                  <a:pt x="255984" y="45966"/>
                  <a:pt x="215972" y="5953"/>
                  <a:pt x="166688" y="5953"/>
                </a:cubicBezTo>
                <a:cubicBezTo>
                  <a:pt x="117403" y="5953"/>
                  <a:pt x="77391" y="45966"/>
                  <a:pt x="77391" y="95250"/>
                </a:cubicBezTo>
                <a:cubicBezTo>
                  <a:pt x="77391" y="144534"/>
                  <a:pt x="117403" y="184547"/>
                  <a:pt x="166687" y="184547"/>
                </a:cubicBezTo>
                <a:close/>
                <a:moveTo>
                  <a:pt x="144587" y="226219"/>
                </a:moveTo>
                <a:cubicBezTo>
                  <a:pt x="71289" y="226219"/>
                  <a:pt x="11906" y="285601"/>
                  <a:pt x="11906" y="358899"/>
                </a:cubicBezTo>
                <a:cubicBezTo>
                  <a:pt x="11906" y="371103"/>
                  <a:pt x="21803" y="381000"/>
                  <a:pt x="34007" y="381000"/>
                </a:cubicBezTo>
                <a:lnTo>
                  <a:pt x="299368" y="381000"/>
                </a:lnTo>
                <a:cubicBezTo>
                  <a:pt x="311572" y="381000"/>
                  <a:pt x="321469" y="371103"/>
                  <a:pt x="321469" y="358899"/>
                </a:cubicBezTo>
                <a:cubicBezTo>
                  <a:pt x="321469" y="285601"/>
                  <a:pt x="262086" y="226219"/>
                  <a:pt x="188788" y="226219"/>
                </a:cubicBezTo>
                <a:lnTo>
                  <a:pt x="144587" y="226219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2159000" y="1905000"/>
            <a:ext cx="254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2400" b="1" dirty="0">
                <a:solidFill>
                  <a:srgbClr val="2D31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平恺飞</a:t>
            </a:r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2159000" y="2406650"/>
            <a:ext cx="254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CC9F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后端开发</a:t>
            </a:r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1143000" y="3392170"/>
            <a:ext cx="64135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Node.js 后端服务搭建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用户认证与 Token 管理 API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帖子 CRUD 与点赞/评论接口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WebSocket 私聊服务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派对聊天室实时消息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通知系统后端实现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600" dirty="0"/>
          </a:p>
        </p:txBody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8318500" y="1524000"/>
            <a:ext cx="7175500" cy="6629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203200" dist="508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11" name="Shape 9"/>
          <p:cNvSpPr/>
          <p:nvPr>
            <p:custDataLst>
              <p:tags r:id="rId8"/>
            </p:custDataLst>
          </p:nvPr>
        </p:nvSpPr>
        <p:spPr>
          <a:xfrm>
            <a:off x="8699500" y="1905000"/>
            <a:ext cx="762000" cy="762000"/>
          </a:xfrm>
          <a:prstGeom prst="ellipse">
            <a:avLst/>
          </a:prstGeom>
          <a:solidFill>
            <a:srgbClr val="EEF2F7"/>
          </a:solidFill>
        </p:spPr>
      </p:sp>
      <p:sp>
        <p:nvSpPr>
          <p:cNvPr id="12" name="Shape 10"/>
          <p:cNvSpPr/>
          <p:nvPr>
            <p:custDataLst>
              <p:tags r:id="rId9"/>
            </p:custDataLst>
          </p:nvPr>
        </p:nvSpPr>
        <p:spPr>
          <a:xfrm>
            <a:off x="8913813" y="20955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66688" y="184547"/>
                </a:moveTo>
                <a:cubicBezTo>
                  <a:pt x="215972" y="184547"/>
                  <a:pt x="255984" y="144534"/>
                  <a:pt x="255984" y="95250"/>
                </a:cubicBezTo>
                <a:cubicBezTo>
                  <a:pt x="255984" y="45966"/>
                  <a:pt x="215972" y="5953"/>
                  <a:pt x="166688" y="5953"/>
                </a:cubicBezTo>
                <a:cubicBezTo>
                  <a:pt x="117403" y="5953"/>
                  <a:pt x="77391" y="45966"/>
                  <a:pt x="77391" y="95250"/>
                </a:cubicBezTo>
                <a:cubicBezTo>
                  <a:pt x="77391" y="144534"/>
                  <a:pt x="117403" y="184547"/>
                  <a:pt x="166687" y="184547"/>
                </a:cubicBezTo>
                <a:close/>
                <a:moveTo>
                  <a:pt x="144587" y="226219"/>
                </a:moveTo>
                <a:cubicBezTo>
                  <a:pt x="71289" y="226219"/>
                  <a:pt x="11906" y="285601"/>
                  <a:pt x="11906" y="358899"/>
                </a:cubicBezTo>
                <a:cubicBezTo>
                  <a:pt x="11906" y="371103"/>
                  <a:pt x="21803" y="381000"/>
                  <a:pt x="34007" y="381000"/>
                </a:cubicBezTo>
                <a:lnTo>
                  <a:pt x="299368" y="381000"/>
                </a:lnTo>
                <a:cubicBezTo>
                  <a:pt x="311572" y="381000"/>
                  <a:pt x="321469" y="371103"/>
                  <a:pt x="321469" y="358899"/>
                </a:cubicBezTo>
                <a:cubicBezTo>
                  <a:pt x="321469" y="285601"/>
                  <a:pt x="262086" y="226219"/>
                  <a:pt x="188788" y="226219"/>
                </a:cubicBezTo>
                <a:lnTo>
                  <a:pt x="144587" y="226219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9715500" y="1905000"/>
            <a:ext cx="254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2400" b="1" dirty="0">
                <a:solidFill>
                  <a:srgbClr val="2D31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潘嘉伟</a:t>
            </a:r>
          </a:p>
        </p:txBody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9715500" y="2406650"/>
            <a:ext cx="254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4CC9F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前端开发</a:t>
            </a:r>
            <a:endParaRPr 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8699500" y="3392170"/>
            <a:ext cx="6413500" cy="272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应用整体</a:t>
            </a:r>
            <a:r>
              <a:rPr lang="en-US" altLang="zh-CN" sz="2000" dirty="0"/>
              <a:t> UI/UX </a:t>
            </a:r>
            <a:r>
              <a:rPr lang="zh-CN" altLang="en-US" sz="2000" dirty="0"/>
              <a:t>设计与实现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底部导航与页面框架搭建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首页树洞</a:t>
            </a:r>
            <a:r>
              <a:rPr lang="en-US" altLang="zh-CN" sz="2000" dirty="0"/>
              <a:t> Feed </a:t>
            </a:r>
            <a:r>
              <a:rPr lang="zh-CN" altLang="en-US" sz="2000" dirty="0"/>
              <a:t>界面与发帖功能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遇见页探索界面、灵魂匹配逻辑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个人空间页面设计与数据展示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聊天室</a:t>
            </a:r>
            <a:r>
              <a:rPr lang="en-US" altLang="zh-CN" sz="2000" dirty="0"/>
              <a:t> UI </a:t>
            </a:r>
            <a:r>
              <a:rPr lang="zh-CN" altLang="en-US" sz="2000" dirty="0"/>
              <a:t>与消息列表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动画效果与交互优化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EF2F7"/>
          </a:solidFill>
        </p:spPr>
      </p:sp>
      <p:sp>
        <p:nvSpPr>
          <p:cNvPr id="29" name="Shape 27"/>
          <p:cNvSpPr/>
          <p:nvPr/>
        </p:nvSpPr>
        <p:spPr>
          <a:xfrm>
            <a:off x="2540000" y="8610600"/>
            <a:ext cx="1524000" cy="50800"/>
          </a:xfrm>
          <a:prstGeom prst="rect">
            <a:avLst/>
          </a:prstGeom>
          <a:solidFill>
            <a:srgbClr val="4CC9F0"/>
          </a:solidFill>
        </p:spPr>
      </p:sp>
      <p:sp>
        <p:nvSpPr>
          <p:cNvPr id="30" name="Text 28"/>
          <p:cNvSpPr/>
          <p:nvPr/>
        </p:nvSpPr>
        <p:spPr>
          <a:xfrm>
            <a:off x="762000" y="8737600"/>
            <a:ext cx="254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 / 03 工作总结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635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程序演示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016000" cy="38100"/>
          </a:xfrm>
          <a:prstGeom prst="rect">
            <a:avLst/>
          </a:prstGeom>
          <a:solidFill>
            <a:srgbClr val="4CC9F0"/>
          </a:solidFill>
        </p:spPr>
      </p:sp>
      <p:sp>
        <p:nvSpPr>
          <p:cNvPr id="4" name="Shape 2"/>
          <p:cNvSpPr/>
          <p:nvPr/>
        </p:nvSpPr>
        <p:spPr>
          <a:xfrm>
            <a:off x="762000" y="1524000"/>
            <a:ext cx="5334000" cy="673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203200" dist="508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1905000"/>
            <a:ext cx="4572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演示环境</a:t>
            </a:r>
            <a:endParaRPr lang="en-US" sz="1600" b="1" dirty="0"/>
          </a:p>
        </p:txBody>
      </p:sp>
      <p:sp>
        <p:nvSpPr>
          <p:cNvPr id="6" name="Shape 4"/>
          <p:cNvSpPr/>
          <p:nvPr/>
        </p:nvSpPr>
        <p:spPr>
          <a:xfrm>
            <a:off x="1143000" y="2387600"/>
            <a:ext cx="508000" cy="38100"/>
          </a:xfrm>
          <a:prstGeom prst="rect">
            <a:avLst/>
          </a:prstGeom>
          <a:solidFill>
            <a:srgbClr val="4CC9F0"/>
          </a:solidFill>
        </p:spPr>
      </p:sp>
      <p:sp>
        <p:nvSpPr>
          <p:cNvPr id="7" name="Text 5"/>
          <p:cNvSpPr/>
          <p:nvPr/>
        </p:nvSpPr>
        <p:spPr>
          <a:xfrm>
            <a:off x="1143000" y="2603500"/>
            <a:ext cx="4572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Android版本：Android 13 (API 33)</a:t>
            </a:r>
            <a:endParaRPr lang="en-US" sz="1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开发环境：Android Studio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最低支持：Android 8.0 (API 26)</a:t>
            </a:r>
            <a:endParaRPr lang="en-US" sz="1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3989070"/>
            <a:ext cx="4572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演示流程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43000" y="4471670"/>
            <a:ext cx="508000" cy="38100"/>
          </a:xfrm>
          <a:prstGeom prst="rect">
            <a:avLst/>
          </a:prstGeom>
          <a:solidFill>
            <a:srgbClr val="4CC9F0"/>
          </a:solidFill>
        </p:spPr>
      </p:sp>
      <p:sp>
        <p:nvSpPr>
          <p:cNvPr id="10" name="Text 8"/>
          <p:cNvSpPr/>
          <p:nvPr/>
        </p:nvSpPr>
        <p:spPr>
          <a:xfrm>
            <a:off x="1143000" y="4687570"/>
            <a:ext cx="4572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4CC9F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lang="en-US" sz="1600" b="1" dirty="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600" b="1" dirty="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帖子的评论与点赞</a:t>
            </a:r>
            <a:endParaRPr lang="en-US" sz="1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4CC9F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lang="en-US" sz="1600" b="1" dirty="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600" b="1" dirty="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多人话题室的实时聊天</a:t>
            </a:r>
            <a:endParaRPr lang="en-US" sz="1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4CC9F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</a:t>
            </a:r>
            <a:r>
              <a:rPr lang="en-US" sz="1600" b="1" dirty="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600" b="1" dirty="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私信聊天和</a:t>
            </a:r>
            <a:r>
              <a:rPr lang="en-US" altLang="zh-CN" sz="1600" b="1" dirty="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AI</a:t>
            </a:r>
            <a:r>
              <a:rPr lang="zh-CN" altLang="en-US" sz="1600" b="1" dirty="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辅助回复</a:t>
            </a:r>
            <a:endParaRPr lang="en-US" sz="1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4CC9F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</a:t>
            </a:r>
            <a:r>
              <a:rPr lang="en-US" sz="1600" b="1" dirty="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600" b="1" dirty="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个人信息管理</a:t>
            </a:r>
          </a:p>
        </p:txBody>
      </p:sp>
      <p:sp>
        <p:nvSpPr>
          <p:cNvPr id="11" name="Text 9"/>
          <p:cNvSpPr/>
          <p:nvPr/>
        </p:nvSpPr>
        <p:spPr>
          <a:xfrm>
            <a:off x="1143000" y="6487160"/>
            <a:ext cx="4572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下阶段计划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43000" y="6969760"/>
            <a:ext cx="508000" cy="38100"/>
          </a:xfrm>
          <a:prstGeom prst="rect">
            <a:avLst/>
          </a:prstGeom>
          <a:solidFill>
            <a:srgbClr val="4CC9F0"/>
          </a:solidFill>
        </p:spPr>
      </p:sp>
      <p:sp>
        <p:nvSpPr>
          <p:cNvPr id="13" name="Text 11"/>
          <p:cNvSpPr/>
          <p:nvPr/>
        </p:nvSpPr>
        <p:spPr>
          <a:xfrm>
            <a:off x="1143000" y="7122160"/>
            <a:ext cx="4572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完成</a:t>
            </a:r>
            <a:r>
              <a:rPr lang="zh-CN" altLang="en-US" sz="1600" b="1" dirty="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核心社交功能闭环</a:t>
            </a:r>
            <a:endParaRPr lang="en-US" sz="1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</a:t>
            </a:r>
            <a:r>
              <a:rPr lang="zh-CN" altLang="en-US" sz="1600" b="1" dirty="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丰富软件用户匹配体验</a:t>
            </a:r>
          </a:p>
          <a:p>
            <a:pPr>
              <a:lnSpc>
                <a:spcPct val="140000"/>
              </a:lnSpc>
            </a:pPr>
            <a:endParaRPr lang="zh-CN" altLang="en-US" sz="1600" dirty="0">
              <a:solidFill>
                <a:srgbClr val="1A1A2E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  <a:p>
            <a:pPr>
              <a:lnSpc>
                <a:spcPct val="140000"/>
              </a:lnSpc>
            </a:pPr>
            <a:endParaRPr lang="en-US" altLang="zh-CN" sz="1600" dirty="0">
              <a:solidFill>
                <a:srgbClr val="1A1A2E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6985000" y="7112000"/>
            <a:ext cx="81280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请在Android Studio中运行项目，或使用已安装的APK文件进行演示。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演示过程中可随时暂停进行功能说明与问题解答。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EF2F7"/>
          </a:solidFill>
        </p:spPr>
      </p:sp>
      <p:sp>
        <p:nvSpPr>
          <p:cNvPr id="27" name="Shape 23"/>
          <p:cNvSpPr/>
          <p:nvPr/>
        </p:nvSpPr>
        <p:spPr>
          <a:xfrm>
            <a:off x="4318000" y="8610600"/>
            <a:ext cx="1524000" cy="50800"/>
          </a:xfrm>
          <a:prstGeom prst="rect">
            <a:avLst/>
          </a:prstGeom>
          <a:solidFill>
            <a:srgbClr val="4CC9F0"/>
          </a:solidFill>
        </p:spPr>
      </p:sp>
      <p:sp>
        <p:nvSpPr>
          <p:cNvPr id="28" name="Text 24"/>
          <p:cNvSpPr/>
          <p:nvPr/>
        </p:nvSpPr>
        <p:spPr>
          <a:xfrm>
            <a:off x="762000" y="8737600"/>
            <a:ext cx="254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 / 03 程序演示</a:t>
            </a:r>
            <a:endParaRPr lang="en-US" sz="1600" dirty="0"/>
          </a:p>
        </p:txBody>
      </p:sp>
      <p:pic>
        <p:nvPicPr>
          <p:cNvPr id="30" name="be02c3dfb4475c040cff2b167072f6a9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340215" y="0"/>
            <a:ext cx="4152900" cy="91440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video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0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0,&quot;left&quot;:60,&quot;top&quot;:160,&quot;width&quot;:1160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0,&quot;left&quot;:60,&quot;top&quot;:160,&quot;width&quot;:116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0,&quot;left&quot;:60,&quot;top&quot;:160,&quot;width&quot;:116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0,&quot;left&quot;:60,&quot;top&quot;:160,&quot;width&quot;:116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0,&quot;left&quot;:60,&quot;top&quot;:160,&quot;width&quot;:116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0,&quot;left&quot;:60,&quot;top&quot;:160,&quot;width&quot;:1160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0,&quot;left&quot;:60,&quot;top&quot;:160,&quot;width&quot;:1160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0,&quot;left&quot;:60,&quot;top&quot;:160,&quot;width&quot;:1160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0,&quot;left&quot;:60,&quot;top&quot;:160,&quot;width&quot;:1160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0,&quot;left&quot;:60,&quot;top&quot;:160,&quot;width&quot;:1160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0,&quot;left&quot;:60,&quot;top&quot;:160,&quot;width&quot;:1160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0,&quot;left&quot;:60,&quot;top&quot;:160,&quot;width&quot;:1160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0,&quot;left&quot;:60,&quot;top&quot;:160,&quot;width&quot;:1160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0,&quot;left&quot;:60,&quot;top&quot;:160,&quot;width&quot;:1160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0,&quot;left&quot;:60,&quot;top&quot;:160,&quot;width&quot;:1160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0,&quot;left&quot;:60,&quot;top&quot;:160,&quot;width&quot;:1160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0,&quot;left&quot;:60,&quot;top&quot;:160,&quot;width&quot;:1160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0,&quot;left&quot;:60,&quot;top&quot;:160,&quot;width&quot;:1160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5,&quot;left&quot;:60,&quot;top&quot;:120,&quot;width&quot;:1160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5,&quot;left&quot;:60,&quot;top&quot;:120,&quot;width&quot;:1160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5,&quot;left&quot;:60,&quot;top&quot;:120,&quot;width&quot;:1160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5,&quot;left&quot;:60,&quot;top&quot;:120,&quot;width&quot;:1160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5,&quot;left&quot;:60,&quot;top&quot;:120,&quot;width&quot;:1160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5,&quot;left&quot;:60,&quot;top&quot;:120,&quot;width&quot;:1160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5,&quot;left&quot;:60,&quot;top&quot;:120,&quot;width&quot;:1160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5,&quot;left&quot;:60,&quot;top&quot;:120,&quot;width&quot;:1160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5,&quot;left&quot;:60,&quot;top&quot;:120,&quot;width&quot;:1160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5,&quot;left&quot;:60,&quot;top&quot;:120,&quot;width&quot;:1160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5,&quot;left&quot;:60,&quot;top&quot;:120,&quot;width&quot;:1160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5,&quot;left&quot;:60,&quot;top&quot;:120,&quot;width&quot;:1160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239</Words>
  <Application>Microsoft Office PowerPoint</Application>
  <PresentationFormat>自定义</PresentationFormat>
  <Paragraphs>66</Paragraphs>
  <Slides>5</Slides>
  <Notes>5</Notes>
  <HiddenSlides>0</HiddenSlides>
  <MMClips>1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Liter</vt:lpstr>
      <vt:lpstr>宋体</vt:lpstr>
      <vt:lpstr>Calibri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Android软件期中汇报</dc:title>
  <dc:subject>Android软件期中汇报</dc:subject>
  <dc:creator>Kimi</dc:creator>
  <cp:lastModifiedBy>恺飞 平</cp:lastModifiedBy>
  <cp:revision>4</cp:revision>
  <dcterms:created xsi:type="dcterms:W3CDTF">2026-05-12T12:24:00Z</dcterms:created>
  <dcterms:modified xsi:type="dcterms:W3CDTF">2026-05-13T02:00:15Z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{"Label":"Android软件期中汇报","ContentProducer":"001191110108MACG2KBH8F10000","ProduceID":"19e1c23c-9f62-8fe1-8000-0000981584b5","ReservedCode1":"","ContentPropagator":"001191110108MACG2KBH8F20000","PropagateID":"19e1c23c-9f62-8fe1-8000-0000981584b5","ReservedCode2":""}</vt:lpwstr>
  </property>
  <property fmtid="{D5CDD505-2E9C-101B-9397-08002B2CF9AE}" pid="3" name="KSOProductBuildVer">
    <vt:lpwstr>2052-12.1.0.25225</vt:lpwstr>
  </property>
  <property fmtid="{D5CDD505-2E9C-101B-9397-08002B2CF9AE}" pid="4" name="ICV">
    <vt:lpwstr>25AC3FA6D3AF43F085264EC9E4C04B8D_12</vt:lpwstr>
  </property>
</Properties>
</file>