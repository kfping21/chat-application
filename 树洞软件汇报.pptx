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9" r:id="rId8"/>
    <p:sldId id="261" r:id="rId9"/>
    <p:sldId id="262" r:id="rId10"/>
    <p:sldId id="263" r:id="rId11"/>
    <p:sldId id="264" r:id="rId12"/>
    <p:sldId id="265" r:id="rId13"/>
    <p:sldId id="270" r:id="rId14"/>
    <p:sldId id="272" r:id="rId15"/>
    <p:sldId id="266" r:id="rId16"/>
    <p:sldId id="271" r:id="rId17"/>
    <p:sldId id="267" r:id="rId18"/>
    <p:sldId id="268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9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大家好，欢迎参加本次“树洞软件”的全流程开发成果汇报。本次汇报将围绕版本控制、UI/UX设计、软件架构、AI集成以及安全部署等多个方面，全面展示我们团队在这个项目中的实践与成果。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十个部分。首先，我们会介绍项目的整体情况；接着，深入探讨版本控制、UI/UX设计、软件架构和API实现；然后，展示核心功能和AI集成的成果；最后，我们会分享测试、安全部署的实践，并对整个项目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概述。我们的“树洞软件”是一款匿名社交应用，采用了独特的赛博朋克视觉风格。核心功能包括创新的星球匹配、匿名聊天室、AI辅助互动以及动态发布。技术上，我们采用了Android原生开发，结合了Canvas进行自定义视图绘制，并集成了DeepSeek-V3大模型来增强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在版本控制方面，我们搭建了规范的Git协作流程。我们采用了经典的Git Flow分支策略，分为主分支、开发分支和功能分支。同时，我们制定了清晰的提交信息规范，确保代码历史的可读性。协作流程从功能开发开始，经过代码审查、测试验证，最终合并到主分支，保证了开发的有序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UI/UX设计成果。我们的设计主题是深色系赛博朋克风格，以深蓝为背景，金色和青色作为点缀。核心界面包括极简的登录页、通过Canvas绘制的3D星球匹配页，以及沉浸式的聊天室卡片。交互上，我们设计了流畅的动画效果，如触摸旋转星球和页面平滑过渡，旨在为用户提供沉浸式的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3AE3-6276-70EA-8CB8-E6835559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ECF7EE-C77A-7E45-DC5D-ADD26A9AC1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FA2AA-D00A-9426-DE3D-B621E44728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03DC7B-4EC3-9C42-19C9-B37D8B196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2B452C-7B07-731D-F7D1-383458B8B1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UI/UX设计成果。我们的设计主题是深色系赛博朋克风格，以深蓝为背景，金色和青色作为点缀。核心界面包括极简的登录页、通过Canvas绘制的3D星球匹配页，以及沉浸式的聊天室卡片。交互上，我们设计了流畅的动画效果，如触摸旋转星球和页面平滑过渡，旨在为用户提供沉浸式的体验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8B4C1-611B-B67F-9B6B-B61B39754A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16FAE-4B9C-F74F-37D9-4A2E48FF5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76995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在软件架构方面，我们采用了清晰的分层架构。客户端分为UI层、业务层、数据层和工具层，服务端则提供了多个RESTful API模块。我们应用了多种设计模式，如MVVM模式分离了视图和业务逻辑，单例模式和工厂模式优化了对象创建，观察者模式则通过LiveData实现了高效的数据驱动UI更新。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API设计与实现是连接前后端的关键。我们配置了合理的超时时间，并采用JWT Token进行安全认证。核心API模块涵盖了用户认证、动态管理、聊天室管理和匿名匹配聊天等功能，为客户端提供了全面的数据支持。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功能的开发是项目的重点。我们通过自定义View实现了星球匹配功能，利用Canvas绘制了3D球体和用户光点，并加入了流畅的旋转动画。登录功能实现了完整的验证和Token管理。聊天室功能则通过定时刷新和实时交互，保证了沟通的顺畅，并通过在线人数可视化增强了用户的参与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提升产品的智能化水平，我们集成了AI能力。我们选择了SiliconFlow平台的DeepSeek-V3大模型。通过AI，我们实现了三个核心场景：悄悄话回复建议、根据图片生成发帖文案，以及AI聊天助手。在技术实现上，我们通过精心设计的Prompt和上下文管理，实现了自然流畅的AI交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质量是软件的生命线。我们采取了多维度的测试策略，包括使用JUnit进行单元测试，Espresso进行集成测试，以及在真机上进行全面的手动测试和性能监控。我们设计了核心的测试用例，覆盖了登录和聊天室等关键功能，确保了软件的稳定性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1F6E-7A7F-AD11-19A4-DB9795E7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54EBDD-2986-8767-D053-8CA51447A9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437EE-363C-D043-D600-B31833CC5F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321AF5F-DBD2-7AD9-4811-814C2F461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D3012A-ABC9-AEF1-4477-A5A660BBC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质量是软件的生命线。我们采取了多维度的测试策略，包括使用JUnit进行单元测试，Espresso进行集成测试，以及在真机上进行全面的手动测试和性能监控。我们设计了核心的测试用例，覆盖了登录和聊天室等关键功能，确保了软件的稳定性和可靠性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22C44-F919-13BB-7CD7-FA87235055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5C753-8A65-954F-B225-1FE51A091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80214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85EA-37A5-5D6E-5504-6EA52473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7B844-975D-AA70-CD25-0C7CD93CCA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D3B31-18A9-4089-5764-DBF37325100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124BDEF-0D47-7773-2B6C-A5745AF59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4498927-A089-E9FF-FEFD-B712F93C0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质量是软件的生命线。我们采取了多维度的测试策略，包括使用JUnit进行单元测试，Espresso进行集成测试，以及在真机上进行全面的手动测试和性能监控。我们设计了核心的测试用例，覆盖了登录和聊天室等关键功能，确保了软件的稳定性和可靠性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2BD3E-BE52-4977-7B52-FFE4030509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79156-172C-931E-57FB-9116372BC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61597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安全与部署方面，我们采取了多项措施。包括对Token的安全管理、网络传输的加密、严格的输入验证以及合理的权限管理。部署上，服务端已在本地服务器成功运行，客户端可以通过Gradle方便地构建出不同版本的安装包，为后续的发布打下了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1070-9625-637E-5757-E14F1931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1294A8-4231-D542-7DAA-135D1597D7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3AED0-02AF-87DA-4F5C-679056655F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FC2785A-239A-0BCE-8C29-037649A535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804FA30-F225-5111-4F46-874A9BFD5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安全与部署方面，我们采取了多项措施。包括对Token的安全管理、网络传输的加密、严格的输入验证以及合理的权限管理。部署上，服务端已在本地服务器成功运行，客户端可以通过Gradle方便地构建出不同版本的安装包，为后续的发布打下了坚实基础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FF0A3-0C31-8815-86C5-0C00D1E73E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A93E-4423-FF74-C3C3-FA5B57B85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17255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。我们成功完成了从版本控制到安全部署的全流程开发。在视觉上，我们创造了独特的3D星球匹配体验；技术上，我们构建了高可维护性的分层架构；功能上，我们通过AI辅助和匿名社交，覆盖了核心用户场景。这些成果充分展示了我们团队的综合开发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我的汇报到此结束，感谢各位的聆听。我们深知项目中还有许多可以改进的地方，欢迎大家提出宝贵的意见和建议。最后，祝愿大家答辩顺利！谢谢！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6.svg"/><Relationship Id="rId4" Type="http://schemas.openxmlformats.org/officeDocument/2006/relationships/image" Target="../media/image12.sv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.sv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jpe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23.svg"/><Relationship Id="rId4" Type="http://schemas.openxmlformats.org/officeDocument/2006/relationships/image" Target="../media/image3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3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52.svg"/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12" Type="http://schemas.openxmlformats.org/officeDocument/2006/relationships/image" Target="../media/image5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11" Type="http://schemas.openxmlformats.org/officeDocument/2006/relationships/image" Target="../media/image50.svg"/><Relationship Id="rId5" Type="http://schemas.openxmlformats.org/officeDocument/2006/relationships/image" Target="../media/image47.svg"/><Relationship Id="rId10" Type="http://schemas.openxmlformats.org/officeDocument/2006/relationships/image" Target="../media/image39.svg"/><Relationship Id="rId4" Type="http://schemas.openxmlformats.org/officeDocument/2006/relationships/image" Target="../media/image46.svg"/><Relationship Id="rId9" Type="http://schemas.openxmlformats.org/officeDocument/2006/relationships/image" Target="../media/image8.svg"/><Relationship Id="rId14" Type="http://schemas.openxmlformats.org/officeDocument/2006/relationships/image" Target="../media/image5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树洞软件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572000" y="3937000"/>
            <a:ext cx="304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全流程开发成果汇报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   |   UI/UX设计   |   架构设计   |   AI集成   |   安全实践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223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08000" y="63246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开发团队：核心研发小组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63246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汇报日期：2026年06月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0066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19685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明确项目核心定位，梳理技术栈选型与整体开发愿景，奠定项目基石。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048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1496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31115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版本控制环境搭建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制定清晰的分支管理策略，规范代码提交标准，建立高效的团队协作流程。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41656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78000" y="41275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UI/UX设计成果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确立赛博朋克风格视觉体系，打磨核心界面布局，优化用户交互体验细节。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1435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52451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778000" y="52070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软件架构设计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构建高内聚低耦合的分层架构，合理应用设计模式，保障系统扩展性与维护性。</a:t>
            </a:r>
          </a:p>
        </p:txBody>
      </p:sp>
      <p:cxnSp>
        <p:nvCxnSpPr>
          <p:cNvPr id="21" name="Connector 21"/>
          <p:cNvCxnSpPr/>
          <p:nvPr/>
        </p:nvCxnSpPr>
        <p:spPr>
          <a:xfrm rot="5389422">
            <a:off x="4159250" y="39624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350000" y="1905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1905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20066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19685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API设计与实现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完成基础环境配置，封装核心业务API模块，确保接口的规范性与安全性。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350000" y="3048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350000" y="3048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540500" y="31496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366000" y="31115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核心功能开发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实现星球匹配、用户登录鉴权及实时聊天室等关键功能，保障核心业务闭环。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350000" y="4064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0" y="4064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540500" y="41656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366000" y="41275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AI能力集成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设计AI集成方案，落地核心应用场景，编写高效稳定的AI交互与处理逻辑。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6350000" y="51435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50000" y="5143500"/>
            <a:ext cx="508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540500" y="52451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08+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366000" y="52070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质量保障与成果交付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涵盖测试策略、安全部署实践，最终完成项目总结与核心亮点复盘，确保高质量交付。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核心定位：赛博朋克风匿名社交应用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“树洞软件”致力于为用户打造一个充满未来感的私密表达空间，在虚拟与现实的边缘，让每一个声音都能被安全地倾听与回应。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619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619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星球匹配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0221">
            <a:off x="952519" y="4184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4381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通过3D星球动态视觉进行用户匹配，打破传统社交的距离感，在浩瀚的赛博星空中寻找灵魂共鸣的陌生人。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3429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361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91000" y="3619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匿名聊天室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0221">
            <a:off x="3683019" y="4184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83000" y="4381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提供端到端加密的匿名交流空间，让用户卸下现实身份的包袱，自由、坦诚地进行情感宣泄与深度对话。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177">
            <a:off x="40640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1778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6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1968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02500" y="1905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客户端架构：Android (Kotlin) + Canvas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采用Kotlin语言原生开发，利用Canvas实现高性能自定义赛博朋克风格视图绘制，保障流畅的视觉交互体验。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7000" y="3048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6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2385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02500" y="3175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服务端核心：RESTful API + JWT认证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6E6E6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构建高可用的RESTful接口服务，集成JWT实现无状态的安全用户认证，确保数据传输与用户隐私的安全可靠。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477000" y="4254500"/>
            <a:ext cx="2387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445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4445000"/>
            <a:ext cx="152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工程工具链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1757">
            <a:off x="6667520" y="50736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67500" y="5207000"/>
            <a:ext cx="2070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Git/GitHub协作，Gradle构建，JUnit单元测试，Retrofit网络请求框架，保障开发效率与质量。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042400" y="4254500"/>
            <a:ext cx="2387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2900" y="44450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40900" y="4445000"/>
            <a:ext cx="152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智能引擎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21757">
            <a:off x="9232920" y="50736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232900" y="5207000"/>
            <a:ext cx="2070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深度集成DeepSeek-V3大模型，为用户提供智能回复建议、文案润色及个性化内容推荐，增强社交互动性。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 版本控制环境搭建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173833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141928">
              <a:alpha val="7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173833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4333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808833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Git Flow 分支策略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2364346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364333" y="2921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main（主分支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核心稳定版本，仅用于生产环境发布，禁止直接提交代码</a:t>
            </a: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develop（开发分支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日常开发基线，整合各功能模块，承载最新开发成果</a:t>
            </a: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feature/*（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功能分支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基于develop创建，单人或小组独立开发新功能，完成后合并回开发分支</a:t>
            </a: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855159" y="1778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141928">
              <a:alpha val="7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855159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5659" y="2032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490159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全流程协作闭环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4323">
            <a:off x="7045672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045659" y="2921000"/>
            <a:ext cx="304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045659" y="2921000"/>
            <a:ext cx="50800" cy="8255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172659" y="2984500"/>
            <a:ext cx="279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功能开发与发起PR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CDC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在feature分支独立开发，完成自测后向develop分支发起合并请求(PR)。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7045659" y="3937000"/>
            <a:ext cx="304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7045659" y="3937000"/>
            <a:ext cx="50800" cy="825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7172659" y="4000500"/>
            <a:ext cx="279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代码审查与集成验证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CDC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团队成员交叉审查代码规范与逻辑，合并后在开发环境进行自动化测试。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7045659" y="4953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7045659" y="4953000"/>
            <a:ext cx="50800" cy="762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7172659" y="5016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生产发布与归档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CDC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测试通过后合并至main分支，打Tag发布正式版本。</a:t>
            </a:r>
          </a:p>
        </p:txBody>
      </p:sp>
      <p:sp>
        <p:nvSpPr>
          <p:cNvPr id="37" name="AutoShape 37"/>
          <p:cNvSpPr/>
          <p:nvPr/>
        </p:nvSpPr>
        <p:spPr>
          <a:xfrm>
            <a:off x="762000" y="6032500"/>
            <a:ext cx="10795000" cy="5080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89000" y="6121400"/>
            <a:ext cx="1054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通过标准化的分支管理与提交规范，实现代码可追溯、风险可控，保障团队协作的高效与有序。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 UI/UX设计成果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450">
            <a:off x="253595" y="4050344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920595" y="1770685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920595" y="1770685"/>
            <a:ext cx="50800" cy="1333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4595" y="1897685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682595" y="1872285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视觉基调：霓虹暗域美学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185">
            <a:off x="3174603" y="2399335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174595" y="2532685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确立“深蓝背景(#1a1a2e) + 金色(#ffd700) + 青色(#00d4ff)”的色彩体系，以高对比度霓虹光效勾勒界面轮廓，营造神秘而高级的赛博空间氛围。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20595" y="3358185"/>
            <a:ext cx="584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920595" y="3358185"/>
            <a:ext cx="50800" cy="14605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4595" y="3485185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682595" y="3459785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核心界面：功能与美学共生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8185">
            <a:off x="3174603" y="3986835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3174595" y="4120185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极简黑金登录表单、Canvas绘制的斐波那契点阵3D星球匹配页，以及沉浸式重叠卡片式聊天室，每一处界面都兼顾了操作效率与视觉冲击力。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920595" y="5072685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0595" y="5072685"/>
            <a:ext cx="50800" cy="1333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4595" y="5199685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3682595" y="5174285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交互设计：流体与反馈的律动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185">
            <a:off x="3174603" y="5637835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174595" y="5733085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设计右下角悬浮金色创建按钮，融入触摸旋转星球、页面平滑过渡及微交互反馈，让用户在每一次操作中感受科技赋予的流畅与温度。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1D805-2BD7-2D33-4C0D-C2FA544C8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8718A0-A38D-47A8-D619-9040B4C222CB}"/>
              </a:ext>
            </a:extLst>
          </p:cNvPr>
          <p:cNvSpPr/>
          <p:nvPr/>
        </p:nvSpPr>
        <p:spPr>
          <a:xfrm>
            <a:off x="0" y="3078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6EBEB96-ABFF-D35D-C580-552CC1AEC74D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 UI/</a:t>
            </a:r>
            <a:r>
              <a:rPr lang="en-US" sz="3200" b="1" i="0" u="none" strike="noStrike" dirty="0" err="1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UX设计成果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18D731-C21C-7B8E-55AC-FA9272AF4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350759"/>
            <a:ext cx="2005769" cy="422574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4D1120F3-3CAC-6DEC-C914-FB1F4CA46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769" y="1350759"/>
            <a:ext cx="2122551" cy="422574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B0BD054-02F3-DF74-FC79-3291F1CBB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321" y="1349813"/>
            <a:ext cx="2167712" cy="422574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A048F84-6A01-0D36-6BC9-0FC68F948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123" y="1349813"/>
            <a:ext cx="1923709" cy="4225747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883A972-FA9F-59DD-9539-3C7C7E67E6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0890" y="1349812"/>
            <a:ext cx="1999971" cy="422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77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 软件架构设计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17145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1968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431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 (Android) 分层体系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10795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54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UI层负责交互展示，业务层封装核心逻辑，数据层统一管理网络与缓存资源，工具层提供通用能力支撑，四层解耦确保系统扩展性。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228255">
            <a:off x="3238500" y="3930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dash"/>
            <a:round/>
            <a:headEnd type="none" w="med" len="med"/>
            <a:tailEnd type="arrow" w="sm" len="sm"/>
          </a:ln>
        </p:spPr>
      </p:cxnSp>
      <p:sp>
        <p:nvSpPr>
          <p:cNvPr id="11" name="AutoShape 11"/>
          <p:cNvSpPr/>
          <p:nvPr/>
        </p:nvSpPr>
        <p:spPr>
          <a:xfrm>
            <a:off x="952500" y="4191000"/>
            <a:ext cx="4826000" cy="15875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31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292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 (RESTful API) 核心模块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1079509" y="4756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889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提供认证、用户管理、内容发布及AI语音交互的Whisper API接口，采用模块化设计，高内聚低耦合，保障服务的稳定性与可维护性。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177">
            <a:off x="4000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1651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1803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1778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MVVM 架构模式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103">
            <a:off x="6629419" y="22796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29400" y="2413000"/>
            <a:ext cx="21717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分离视图(View)与业务逻辑(ViewModel)，通过数据绑定实现视图自动更新，极大提升代码的可维护性与测试性。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1651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32900" y="18034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652000" y="1778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单例模式应用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103">
            <a:off x="9232919" y="22796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232900" y="2413000"/>
            <a:ext cx="21717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用于RetrofitClient、TokenManager等全局核心实例，确保内存中仅存在一个对象，减少资源开销并保证状态一致性。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3937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40894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048500" y="4064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工厂模式解耦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20103">
            <a:off x="6629419" y="45656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629400" y="4699000"/>
            <a:ext cx="21717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封装API服务与数据仓库的创建过程，将对象实例化与使用分离，降低模块间耦合度，便于后续扩展与替换具体实现。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80500" y="3937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2900" y="40894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652000" y="4064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观察者模式驱动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20103">
            <a:off x="9232919" y="45656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9232900" y="4699000"/>
            <a:ext cx="21717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利用LiveData实现数据变更的自动通知，让UI组件自动响应数据变化，避免手动管理生命周期，提升了响应效率。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05 API设计与实现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服务端核心地址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54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部署于内网核心节点，统一网关入口为：</a:t>
            </a:r>
            <a:b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http://10.17.27.114:3001/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分级超时策略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54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精细化控制网络请求生命周期：</a:t>
            </a:r>
            <a:b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连接超时10s / 读取超时15s / 写入超时20s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360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安全认证机制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54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采用JWT Bearer Token鉴权，配合多地址回退机制，保障请求链路安全可靠。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1275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4089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Auth API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8992">
            <a:off x="914418" y="456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14400" y="4699000"/>
            <a:ext cx="22987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核心接口：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/api/auth/login/register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负责用户注册、登录及身份状态管理，是系统安全的第一道防线。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530600" y="3937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530600" y="3937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41275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4038600" y="4089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Posts API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8992">
            <a:off x="3683018" y="456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3683000" y="4699000"/>
            <a:ext cx="22987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核心接口：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/api/posts/feed/create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处理动态内容的发布、浏览、互动及信息流聚合，支撑社区内容生态。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99200" y="3937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299200" y="3937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1600" y="4127500"/>
            <a:ext cx="279400" cy="279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807200" y="4089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Party API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18992">
            <a:off x="6451618" y="456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6451600" y="4699000"/>
            <a:ext cx="22987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核心接口：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/api/party/rooms/messages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管理多人语音、文字聊天室的创建、消息分发与成员状态同步。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067800" y="3937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D7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067800" y="3937000"/>
            <a:ext cx="2603500" cy="381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0200" y="4127500"/>
            <a:ext cx="279400" cy="2794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575800" y="4089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Whisper API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18992">
            <a:off x="9220218" y="456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9220200" y="4699000"/>
            <a:ext cx="22987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核心接口：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/api/whisper/start/end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实现用户匿名匹配、临时对话通道建立与销毁，保护用户隐私安全。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06 核心功能开发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724" r="724"/>
          <a:stretch>
            <a:fillRect/>
          </a:stretch>
        </p:blipFill>
        <p:spPr>
          <a:xfrm>
            <a:off x="762000" y="1778000"/>
            <a:ext cx="4318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318000" cy="11430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5207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以3D球体与全球节点网络为核心视觉符号，构建沉浸式赛博朋克交互体验，将复杂的功能逻辑转化为直观、震撼的视觉语言。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177">
            <a:off x="3365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842000" y="1778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141928">
              <a:alpha val="6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1968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19304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星球匹配 (StarrySkyView.kt)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384">
            <a:off x="6032508" y="2533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032500" y="2667000"/>
            <a:ext cx="527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利用Canvas绘制3D球体光晕，结合斐波那契点分布算法模拟用户光点，支持触摸与自动旋转动画，打造极具沉浸感的视觉交互。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3429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141928">
              <a:alpha val="6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361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04000" y="35814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登录鉴权 (LoginFragment.kt)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384">
            <a:off x="6032508" y="4184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032500" y="4318000"/>
            <a:ext cx="527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实现登录/注册模式无缝切换，内置完备的输入验证逻辑，保障JWT Token的安全存储与网络请求自动携带，构建稳固的安全基石。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842000" y="5080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141928">
              <a:alpha val="6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2500" y="5270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604000" y="52324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实时互动 (PartyChatFragment.kt)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384">
            <a:off x="6032508" y="5835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032500" y="5905500"/>
            <a:ext cx="527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3秒定时刷新消息流，支持消息实时收发与在线人数可视化展示，营造活跃的社区氛围，强化用户间的即时连接与互动体验。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07 AI能力集成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572000"/>
            <a:ext cx="4572000" cy="13970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69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集成方案架构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选用SiliconFlow平台部署DeepSeek-V3大模型，核心实现封装于network/DeepSeekApi.kt模块，通过轻量化接口调用实现高性能AI服务集成。</a:t>
            </a:r>
          </a:p>
        </p:txBody>
      </p:sp>
      <p:cxnSp>
        <p:nvCxnSpPr>
          <p:cNvPr id="7" name="Connector 7"/>
          <p:cNvCxnSpPr/>
          <p:nvPr/>
        </p:nvCxnSpPr>
        <p:spPr>
          <a:xfrm rot="5389889">
            <a:off x="3556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842000" y="1778000"/>
            <a:ext cx="1981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4400" y="19304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413500" y="1930400"/>
            <a:ext cx="133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回复建议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6043">
            <a:off x="5994424" y="24701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969000" y="2667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基于完整聊天历史上下文，智能分析语义，实时生成2条符合语境的自然回复，提升沟通效率。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50200" y="1778000"/>
            <a:ext cx="1981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2600" y="19304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521700" y="1930400"/>
            <a:ext cx="133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文案生成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6043">
            <a:off x="8102624" y="24701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077200" y="2667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解析上传图片的Base64编码内容，精准捕捉画面核心元素，自动生成吸引人且贴合场景的高质量配文。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931400" y="1778000"/>
            <a:ext cx="1981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3800" y="19304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0502900" y="1930400"/>
            <a:ext cx="133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智能助手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6043">
            <a:off x="10083824" y="24701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058400" y="2667000"/>
            <a:ext cx="172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提供7x24小时智能问答服务，结合情绪识别技术，给予有温度的情感互动反馈，增强用户粘性。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842000" y="4572000"/>
            <a:ext cx="6070600" cy="1397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4400" y="4724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413500" y="46990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核心代码逻辑控制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7572">
            <a:off x="5994407" y="5137150"/>
            <a:ext cx="576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5994400" y="5270500"/>
            <a:ext cx="576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通过构造System Prompt精准定义AI角色，严格管理多轮对话上下文传递；设置温度参数为0.7，平衡回复的随机性与创造性，确保输出可控且自然。</a:t>
            </a:r>
            <a:endParaRPr lang="en-US" sz="110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CD744F2-A16F-8211-94F6-DB18794B23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857" y="1745108"/>
            <a:ext cx="3098362" cy="168389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6891790-172E-529A-0B61-412CBEA8C9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9159" y="1370067"/>
            <a:ext cx="1865961" cy="2840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08 测试与质量保障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6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采用JUnit框架，重点覆盖工具类、数据模型及核心API响应逻辑，确保基础组件的逻辑正确性与稳定性。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96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集成测试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794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使用Espresso自动化测试框架，针对页面跳转流程、关键交互逻辑进行端到端验证，保障功能链路通畅。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412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手动与场景测试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81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953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基于多型号真机进行全功能覆盖测试，模拟用户真实使用场景，补充自动化测试未覆盖的边缘与主观体验场景。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191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412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性能与监控测试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481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4953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利用Android Profiler监控内存泄漏、CPU占用及网络请求效率，确保应用在高负载下仍保持流畅稳定的运行状态。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59DFB-65BC-6268-C93D-7E07E018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EBED76C-CF91-1D9E-73A9-A4243163BC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6AB1F09-ADA8-EDFC-D86D-CB119C46C8EA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08 测试与质量保障</a:t>
            </a:r>
            <a:endParaRPr lang="en-US" sz="110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C5E8815-2FA0-ED1C-6140-E7D557867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547" y="1458011"/>
            <a:ext cx="8357386" cy="419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61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16C61-9B7B-9D4C-9EAC-10350078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67B243E-E9D2-ED18-B2B3-2285FA3959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B7EE631-20F1-16AB-569E-73BD191C179E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08 测试与质量保障</a:t>
            </a:r>
            <a:endParaRPr lang="en-US" sz="11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A06D3D-CF5E-523C-77B0-2A51501CD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794" y="1250537"/>
            <a:ext cx="5818437" cy="372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4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09 安全与部署实践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6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Token 安全管理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6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SharedPreferences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进行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Token </a:t>
            </a:r>
            <a:r>
              <a:rPr lang="en-US" sz="14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安全存储，封装统一管理工具类，并提供用户登出时的一键清空功能，确保认证凭证不被泄露</a:t>
            </a: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38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全链路网络传输加密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1016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508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强制使用 HTTPS 协议进行数据传输，对所有请求参数做签名验证，并采用 AES 算法加密敏感业务数据，防范中间人攻击与数据窃取。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90177">
            <a:off x="40640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177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1968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66000" y="196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输入验证与权限管控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6731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731000" y="266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对账号、密码及业务输入做全维度格式校验，防御 SQL 注入与 XSS 攻击；严格遵循 Android 运行时权限机制，按需申请隐私权限，保障用户信息安全。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191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4381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366000" y="438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多端自动化部署方案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291">
            <a:off x="6731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731000" y="508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服务端部署于本地服务器 10.17.27.114:3001，支持 Docker 容器化与裸机运行；客户端基于 Gradle 构建 Debug/Release 双版本，开发与测试环境配置统一，便于快速迭代。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E53AC-FBAC-D33B-B9A3-8E301913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84030D5-5B3C-FD00-ABE8-6DC7C96F6F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59DF819-84CF-F387-9352-DDB00E1A094A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09 安全与部署实践</a:t>
            </a:r>
            <a:endParaRPr lang="en-US" sz="1100"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A155DAC0-5662-7895-BF21-5C89070BC3AB}"/>
              </a:ext>
            </a:extLst>
          </p:cNvPr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0813CDA7-798B-8742-7845-B1F740548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061" y="1650999"/>
            <a:ext cx="9831630" cy="495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51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10 总结与成果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778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Git协作流程规范落地，实现代码版本的可追溯与团队高效并行开发。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810000" y="1651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0500" y="1841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445000" y="1778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UI/UX设计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确立赛博朋克视觉风格，结合自定义3D视图，打造沉浸式用户交互体验。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2921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11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048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采用分层架构体系，落地核心设计模式，确保系统结构清晰、扩展性强</a:t>
            </a:r>
            <a:r>
              <a:rPr lang="en-US" sz="12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810000" y="2921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0500" y="311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445000" y="3048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API设计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构建标准化RESTful API接口，实现多地址回退机制，保障服务高可用性。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191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基于Vue3全栈技术栈，高效实现项目核心业务功能，交互逻辑流畅完整。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810000" y="4064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0500" y="425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445000" y="4191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AI集成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成功落地DeepSeek大模型能力，实现智能语义理解与内容生成辅助功能。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207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5334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测试/CI/CD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完善单元测试覆盖，搭建Gradle自动化构建流水线，提升交付质量与效率。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3810000" y="5207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0500" y="5397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445000" y="5334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安全/部署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强化Token安全管理机制，完成系统本地化部署方案，确保数据与运行安全。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112000" y="1651000"/>
            <a:ext cx="4318000" cy="13335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02500" y="18415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874000" y="1778000"/>
            <a:ext cx="342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视觉沉浸 · 风格独树一帜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融合赛博朋克美学与3D星球匹配交互，突破传统界面限制，为用户带来极具未来感的视觉冲击与沉浸式操作体验。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7112000" y="3238500"/>
            <a:ext cx="4318000" cy="13335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02500" y="34290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874000" y="3365500"/>
            <a:ext cx="342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 · 高可维护性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采用高内聚低耦合的分层架构，结合多种设计模式落地，让系统结构清晰、易于扩展，有效降低后续迭代与维护成本。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7112000" y="4826000"/>
            <a:ext cx="4318000" cy="1333500"/>
          </a:xfrm>
          <a:prstGeom prst="roundRect">
            <a:avLst>
              <a:gd name="adj" fmla="val 0"/>
            </a:avLst>
          </a:prstGeom>
          <a:solidFill>
            <a:srgbClr val="FFD700">
              <a:alpha val="8000"/>
            </a:srgbClr>
          </a:solidFill>
          <a:ln w="12700" cap="flat" cmpd="sng">
            <a:solidFill>
              <a:srgbClr val="FFD7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02500" y="5016500"/>
            <a:ext cx="406400" cy="406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874000" y="4953000"/>
            <a:ext cx="342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场景覆盖 · AI赋能社交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深度整合AI辅助能力，打造特色匿名社交体系，精准命中用户核心需求，实现从功能到体验的全方位场景闭环。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381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敬请指正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祝答辩顺利 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1384</Words>
  <Application>Microsoft Office PowerPoint</Application>
  <PresentationFormat>宽屏</PresentationFormat>
  <Paragraphs>211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平恺飞</dc:creator>
  <cp:lastModifiedBy>恺飞 平</cp:lastModifiedBy>
  <cp:revision>2</cp:revision>
  <dcterms:modified xsi:type="dcterms:W3CDTF">2026-06-18T10:20:19Z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{"Label":"1","ContentProducer":"001191110102MACQD9K64010000","ProduceID":"7649590218698574801","ReservedCode1":"","ContentPropagator":"","PropagateID":"","ReservedCode2":""}</vt:lpwstr>
  </property>
</Properties>
</file>